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5" r:id="rId7"/>
    <p:sldId id="278" r:id="rId8"/>
    <p:sldId id="281" r:id="rId9"/>
    <p:sldId id="279" r:id="rId10"/>
    <p:sldId id="290" r:id="rId11"/>
    <p:sldId id="262" r:id="rId12"/>
    <p:sldId id="264" r:id="rId13"/>
    <p:sldId id="277" r:id="rId14"/>
    <p:sldId id="291" r:id="rId15"/>
    <p:sldId id="292" r:id="rId16"/>
    <p:sldId id="293" r:id="rId17"/>
    <p:sldId id="294" r:id="rId18"/>
    <p:sldId id="286" r:id="rId19"/>
    <p:sldId id="287" r:id="rId20"/>
    <p:sldId id="280" r:id="rId21"/>
    <p:sldId id="288" r:id="rId22"/>
    <p:sldId id="289" r:id="rId23"/>
    <p:sldId id="27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8.xml"/><Relationship Id="rId2" Type="http://schemas.openxmlformats.org/officeDocument/2006/relationships/image" Target="../media/image9.png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0.xml"/><Relationship Id="rId2" Type="http://schemas.openxmlformats.org/officeDocument/2006/relationships/image" Target="../media/image10.png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2.xml"/><Relationship Id="rId2" Type="http://schemas.openxmlformats.org/officeDocument/2006/relationships/image" Target="../media/image11.png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4.xml"/><Relationship Id="rId2" Type="http://schemas.openxmlformats.org/officeDocument/2006/relationships/image" Target="../media/image12.png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799PARIDHISHARMA/GrantPilot-AI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 and IBM BOB”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47822" y="2600315"/>
          <a:ext cx="9446260" cy="216725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16455"/>
                <a:gridCol w="2443374"/>
                <a:gridCol w="2422525"/>
                <a:gridCol w="2464223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000" b="1"/>
                        <a:t>Paridhi Sharma</a:t>
                      </a:r>
                      <a:endParaRPr lang="en-US" altLang="en-US" sz="2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paridhis529@gmail.com</a:t>
                      </a:r>
                      <a:endParaRPr lang="en-US" sz="2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7489583934</a:t>
                      </a:r>
                      <a:endParaRPr lang="en-US" sz="20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Domain of  Project</a:t>
            </a:r>
            <a:r>
              <a:rPr lang="en-US" sz="2400" b="1"/>
              <a:t> – </a:t>
            </a:r>
            <a:r>
              <a:rPr lang="en-US" altLang="en-US" sz="2000"/>
              <a:t>Business Automation</a:t>
            </a:r>
            <a:endParaRPr lang="en-US" altLang="en-US" sz="2000"/>
          </a:p>
        </p:txBody>
      </p:sp>
      <p:sp>
        <p:nvSpPr>
          <p:cNvPr id="7" name="TextBox 6"/>
          <p:cNvSpPr txBox="1"/>
          <p:nvPr/>
        </p:nvSpPr>
        <p:spPr>
          <a:xfrm>
            <a:off x="1205865" y="551815"/>
            <a:ext cx="9580880" cy="768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/>
              <a:t>Project Tile</a:t>
            </a:r>
            <a:r>
              <a:rPr lang="en-US" sz="2400" b="1"/>
              <a:t> – </a:t>
            </a:r>
            <a:r>
              <a:rPr lang="en-US" altLang="en-US" sz="2000"/>
              <a:t>GrantPilot AI – AI Grant &amp; Funding Finder for Startups</a:t>
            </a:r>
            <a:endParaRPr lang="en-US" altLang="en-US" sz="2000"/>
          </a:p>
          <a:p>
            <a:pPr algn="ctr"/>
            <a:r>
              <a:rPr lang="en-US" altLang="en-US" sz="2400"/>
              <a:t>         </a:t>
            </a:r>
            <a:r>
              <a:rPr lang="en-US" altLang="en-US" sz="1600"/>
              <a:t> “AI-Powered Grant Discovery, Matching &amp; Proposal Assistant”</a:t>
            </a:r>
            <a:endParaRPr lang="en-US" altLang="en-US" sz="1600"/>
          </a:p>
        </p:txBody>
      </p:sp>
      <p:sp>
        <p:nvSpPr>
          <p:cNvPr id="3" name="TextBox 2"/>
          <p:cNvSpPr txBox="1"/>
          <p:nvPr/>
        </p:nvSpPr>
        <p:spPr>
          <a:xfrm>
            <a:off x="1211005" y="5210667"/>
            <a:ext cx="6456743" cy="3987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6205" y="3533140"/>
            <a:ext cx="1156335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/>
              <a:t>Problem Statement – GrantPilot AI</a:t>
            </a:r>
            <a:endParaRPr lang="en-US" altLang="en-US" sz="1600" b="1"/>
          </a:p>
          <a:p>
            <a:endParaRPr lang="en-US" altLang="en-US"/>
          </a:p>
          <a:p>
            <a:r>
              <a:rPr lang="en-US" altLang="en-US" sz="1600" b="1"/>
              <a:t>The Challenge</a:t>
            </a:r>
            <a:endParaRPr lang="en-US" altLang="en-US" sz="1600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Grant opportunities for startups are scattered across different websites, documents, and platforms.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Finding relevant grants based on domain, startup stage, location, and funding requirement is time-consuming.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Eligibility criteria, funding amounts, deadlines, and required documents are often difficult to compare manually.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Preparing a suitable grant proposal also requires significant time and effort.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/>
          </a:p>
          <a:p>
            <a:r>
              <a:rPr lang="en-US" altLang="en-US" sz="1600" b="1"/>
              <a:t>The Objective</a:t>
            </a:r>
            <a:endParaRPr lang="en-US" altLang="en-US" sz="1600" b="1"/>
          </a:p>
          <a:p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To develop an AI-powered system for discovering and ranking suitable grants.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To analyze grant eligibility based on the startup profile.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To use IBM Granite and RAG for intelligent grant matching and information retrieval.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To assist startups in generating an initial funding proposal draft.</a:t>
            </a:r>
            <a:endParaRPr lang="en-US" altLang="en-US" sz="160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945" y="1234440"/>
            <a:ext cx="10607040" cy="4314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endParaRPr lang="en-US" b="1"/>
          </a:p>
          <a:p>
            <a:r>
              <a:rPr lang="en-US" altLang="en-US" sz="1600" b="1"/>
              <a:t>Proposed Solution – GrantPilot AI</a:t>
            </a:r>
            <a:endParaRPr lang="en-US" altLang="en-US" sz="1600" b="1"/>
          </a:p>
          <a:p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Startup Profile: </a:t>
            </a:r>
            <a:r>
              <a:rPr lang="en-US" altLang="en-US" sz="1600"/>
              <a:t>Collects startup domain, stage, location, funding requirement, and description.</a:t>
            </a:r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Grant Discovery:</a:t>
            </a:r>
            <a:r>
              <a:rPr lang="en-US" altLang="en-US" sz="1600"/>
              <a:t> Uses a structured grant knowledge base to find relevant funding opportunities.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RAG + IBM Granite: </a:t>
            </a:r>
            <a:r>
              <a:rPr lang="en-US" altLang="en-US" sz="1600"/>
              <a:t>Retrieves relevant grant information and uses IBM Granite 4 H Small for intelligent analysis.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Grant Matching &amp; Ranking: </a:t>
            </a:r>
            <a:r>
              <a:rPr lang="en-US" altLang="en-US" sz="1600"/>
              <a:t>Ranks grants based on domain, location, startup stage, funding requirement, and eligibility.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Eligibility Analysis: I</a:t>
            </a:r>
            <a:r>
              <a:rPr lang="en-US" altLang="en-US" sz="1600"/>
              <a:t>dentifies eligible, partially eligible, and not-eligible opportunities while highlighting requirements that need verification.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Proposal Assistant: </a:t>
            </a:r>
            <a:r>
              <a:rPr lang="en-US" altLang="en-US" sz="1600"/>
              <a:t>Generates an initial funding proposal draft for the selected grant.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Human Review: </a:t>
            </a:r>
            <a:r>
              <a:rPr lang="en-US" altLang="en-US" sz="1600"/>
              <a:t>Final grant eligibility and proposal are verified by the user before application.</a:t>
            </a:r>
            <a:endParaRPr lang="en-US" altLang="en-US" sz="160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1600"/>
              <a:t>              </a:t>
            </a:r>
            <a:endParaRPr lang="en-US" altLang="en-US" sz="1600" b="1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1600" b="1"/>
              <a:t>                   “GrantPilot AI transforms scattered grant information into personalized, AI-powered funding recommendations and proposal assistance.”</a:t>
            </a:r>
            <a:endParaRPr lang="en-US" altLang="en-US" sz="1600" b="1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135"/>
            <a:ext cx="10515600" cy="3265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/>
              <a:t>Technology Used</a:t>
            </a:r>
            <a:endParaRPr lang="en-US" altLang="en-US" sz="1600" b="1"/>
          </a:p>
          <a:p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IBM Bob</a:t>
            </a:r>
            <a:r>
              <a:rPr lang="en-US" altLang="en-US" sz="1600"/>
              <a:t> – AI-powered development partner used to build and structure the application.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IBM Granite 4 H Small</a:t>
            </a:r>
            <a:r>
              <a:rPr lang="en-US" altLang="en-US" sz="1600"/>
              <a:t> – For natural language understanding, reasoning, grant analysis, and proposal generation.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IBM watsonx.ai </a:t>
            </a:r>
            <a:r>
              <a:rPr lang="en-US" altLang="en-US" sz="1600"/>
              <a:t>– For accessing and deploying IBM Granite models.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IBM Cloud</a:t>
            </a:r>
            <a:r>
              <a:rPr lang="en-US" altLang="en-US" sz="1600"/>
              <a:t> – Provides the cloud infrastructure and IBM AI services.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RAG (Retrieval-Augmented Generation) </a:t>
            </a:r>
            <a:r>
              <a:rPr lang="en-US" altLang="en-US" sz="1600"/>
              <a:t>– Retrieves relevant grant information from the knowledge base before generating responses.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Vector Store / TF-IDF Retrieval</a:t>
            </a:r>
            <a:r>
              <a:rPr lang="en-US" altLang="en-US" sz="1600"/>
              <a:t> – Used for retrieving relevant grant records from the grant knowledge base.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Python &amp; Streamlit</a:t>
            </a:r>
            <a:r>
              <a:rPr lang="en-US" altLang="en-US" sz="1600"/>
              <a:t> – Used to develop the application and interactive dashboard.</a:t>
            </a:r>
            <a:endParaRPr lang="en-US" altLang="en-US" sz="1600"/>
          </a:p>
          <a:p>
            <a:endParaRPr lang="en-IN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endParaRPr sz="2400" b="1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21285"/>
            <a:ext cx="8823960" cy="62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  <a:p>
            <a:r>
              <a:rPr lang="en-US" sz="2400" b="1"/>
              <a:t>REQUIRED FILES CREATED USING IBM BOB</a:t>
            </a:r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pic>
        <p:nvPicPr>
          <p:cNvPr id="6" name="Picture 5" descr="ebb616ab-92c0-4ba5-a0e3-8c11442ccca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65" y="760730"/>
            <a:ext cx="10663555" cy="5906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845" y="168275"/>
            <a:ext cx="5908675" cy="49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endParaRPr sz="2400" b="1">
              <a:sym typeface="Times New Roman" panose="02020603050405020304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685800" y="121285"/>
            <a:ext cx="8823960" cy="621665"/>
          </a:xfrm>
          <a:prstGeom prst="rect">
            <a:avLst/>
          </a:prstGeom>
          <a:solidFill>
            <a:srgbClr val="E3E3E3"/>
          </a:solidFill>
        </p:spPr>
        <p:txBody>
          <a:bodyPr wrap="square" rtlCol="0">
            <a:noAutofit/>
          </a:bodyPr>
          <a:lstStyle/>
          <a:p>
            <a:endParaRPr lang="en-US"/>
          </a:p>
          <a:p>
            <a:r>
              <a:rPr lang="en-US" sz="2000" b="1"/>
              <a:t>IBM BOB SCREENSHOTS</a:t>
            </a:r>
            <a:r>
              <a:rPr lang="en-US"/>
              <a:t>:</a:t>
            </a:r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US"/>
          </a:p>
        </p:txBody>
      </p:sp>
      <p:pic>
        <p:nvPicPr>
          <p:cNvPr id="9" name="Picture 8" descr="WhatsApp Image 2026-09-08 at 16.38.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210" y="946785"/>
            <a:ext cx="10854055" cy="5720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象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93065"/>
            <a:ext cx="10800080" cy="484505"/>
          </a:xfrm>
        </p:spPr>
        <p:txBody>
          <a:bodyPr wrap="square">
            <a:normAutofit/>
          </a:bodyPr>
          <a:lstStyle/>
          <a:p>
            <a:pPr algn="l"/>
            <a:r>
              <a:rPr lang="en-US" sz="1600" b="1" spc="0" dirty="0"/>
              <a:t>app.py </a:t>
            </a:r>
            <a:endParaRPr lang="en-US" sz="1600" b="1" spc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35965"/>
            <a:ext cx="11565890" cy="61220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</a:t>
            </a:r>
            <a:endParaRPr lang="en-US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85520"/>
            <a:ext cx="9316085" cy="5155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/>
              <a:t>Role of Agentic AI in GrantPilot AI</a:t>
            </a:r>
            <a:endParaRPr lang="en-US" altLang="en-US" sz="1600" b="1"/>
          </a:p>
          <a:p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Grant Discovery Agent </a:t>
            </a:r>
            <a:r>
              <a:rPr lang="en-US" altLang="en-US" sz="1600"/>
              <a:t>– Finds relevant grant opportunities from the available knowledge base.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Grant Matching Agent</a:t>
            </a:r>
            <a:r>
              <a:rPr lang="en-US" altLang="en-US" sz="1600"/>
              <a:t> – Compares startup requirements with grant criteria and ranks the best matches.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Eligibility Agent</a:t>
            </a:r>
            <a:r>
              <a:rPr lang="en-US" altLang="en-US" sz="1600"/>
              <a:t> – Checks eligibility conditions and highlights requirements that need verification.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Proposal Assistant Agent</a:t>
            </a:r>
            <a:r>
              <a:rPr lang="en-US" altLang="en-US" sz="1600"/>
              <a:t> – Generates an initial funding proposal draft based on the selected grant and startup profile.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Human-in-the-Loop</a:t>
            </a:r>
            <a:r>
              <a:rPr lang="en-US" altLang="en-US" sz="1600"/>
              <a:t> – User reviews and verifies AI-generated results before applying.</a:t>
            </a:r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“Agentic AI enables GrantPilot AI to perform grant discovery, matching, eligibility analysis and proposal assistance as a coordinated workflow.”</a:t>
            </a:r>
            <a:endParaRPr lang="en-US" altLang="en-US" sz="16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Token Usage 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392" y="1042133"/>
            <a:ext cx="4371171" cy="3067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en-US"/>
              <a:t>45,900.</a:t>
            </a:r>
            <a:r>
              <a:rPr lang="en-US"/>
              <a:t> token are used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Before Prompt</a:t>
            </a:r>
            <a:endParaRPr lang="en-US" sz="2000" u="sng"/>
          </a:p>
        </p:txBody>
      </p:sp>
      <p:sp>
        <p:nvSpPr>
          <p:cNvPr id="15" name="TextBox 14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After the Prompt</a:t>
            </a:r>
            <a:endParaRPr lang="en-US" sz="2000" u="sng"/>
          </a:p>
        </p:txBody>
      </p:sp>
      <p:pic>
        <p:nvPicPr>
          <p:cNvPr id="3" name="Picture 2" descr="Screenshot 2026-09-08 1142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0"/>
            <a:ext cx="5774055" cy="3790315"/>
          </a:xfrm>
          <a:prstGeom prst="rect">
            <a:avLst/>
          </a:prstGeom>
        </p:spPr>
      </p:pic>
      <p:pic>
        <p:nvPicPr>
          <p:cNvPr id="4" name="Picture 3" descr="Screenshot 2026-09-11 1937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88870"/>
            <a:ext cx="5831840" cy="3787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象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/>
              <a:t>Your title here</a:t>
            </a:r>
            <a:endParaRPr lang="en-US" spc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875"/>
            <a:ext cx="12192000" cy="63341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76200" y="-76200"/>
            <a:ext cx="6096000" cy="670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Project Output Screenshot</a:t>
            </a:r>
            <a:endParaRPr lang="en-US" sz="2400" b="1">
              <a:sym typeface="Times New Roman" panose="020206030504050203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Your title here</a:t>
            </a:r>
            <a:endParaRPr lang="en-US" spc="0" dirty="0"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530"/>
            <a:ext cx="12192000" cy="5953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对象1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Your title here</a:t>
            </a:r>
            <a:endParaRPr lang="en-US" spc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" y="492760"/>
            <a:ext cx="12133580" cy="58724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5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Your title here</a:t>
            </a:r>
            <a:endParaRPr lang="en-US" spc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" y="495300"/>
            <a:ext cx="11757660" cy="5867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/>
              <a:t>Novelty and Uniqueness of GrantPilot AI</a:t>
            </a:r>
            <a:endParaRPr lang="en-US" altLang="en-US" sz="1600" b="1"/>
          </a:p>
          <a:p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Personalized Grant Matching:</a:t>
            </a:r>
            <a:r>
              <a:rPr lang="en-US" altLang="en-US" sz="1600"/>
              <a:t> Matches funding opportunities with the startup’s domain, stage, location, and funding requirement.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AI-Based Eligibility Analysis: </a:t>
            </a:r>
            <a:r>
              <a:rPr lang="en-US" altLang="en-US" sz="1600"/>
              <a:t>Evaluates eligibility and highlights requirements that need further verification.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RAG + IBM Granite:</a:t>
            </a:r>
            <a:r>
              <a:rPr lang="en-US" altLang="en-US" sz="1600"/>
              <a:t> Uses relevant grant information from the knowledge base before generating AI responses.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Grant Ranking</a:t>
            </a:r>
            <a:r>
              <a:rPr lang="en-US" altLang="en-US" sz="1600"/>
              <a:t>: Provides match scores to help startups prioritize the most suitable opportunities.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AI Proposal Assistance</a:t>
            </a:r>
            <a:r>
              <a:rPr lang="en-US" altLang="en-US" sz="1600"/>
              <a:t>: Generates an initial grant proposal draft based on the selected funding opportunity.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Human-in-the-Loop:</a:t>
            </a:r>
            <a:r>
              <a:rPr lang="en-US" altLang="en-US" sz="1600"/>
              <a:t> Keeps final eligibility verification and application decisions under the user’s control.</a:t>
            </a:r>
            <a:endParaRPr lang="en-US" altLang="en-US" sz="1600"/>
          </a:p>
          <a:p>
            <a:endParaRPr lang="en-US" altLang="en-US" sz="1600" b="1"/>
          </a:p>
          <a:p>
            <a:r>
              <a:rPr lang="en-US" altLang="en-US" sz="1600" b="1"/>
              <a:t>Key Innovation:</a:t>
            </a:r>
            <a:endParaRPr lang="en-US" altLang="en-US" sz="1600" b="1"/>
          </a:p>
          <a:p>
            <a:endParaRPr lang="en-US" altLang="en-US" sz="1600"/>
          </a:p>
          <a:p>
            <a:pPr algn="ctr"/>
            <a:endParaRPr lang="en-US" altLang="en-US" sz="1600" b="1"/>
          </a:p>
          <a:p>
            <a:pPr algn="ctr"/>
            <a:r>
              <a:rPr lang="en-US" altLang="en-US" sz="1600" b="1"/>
              <a:t>“GrantPilot AI combines grant discovery, personalized matching, eligibility analysis, and proposal assistance into a single AI-powered workflow.”</a:t>
            </a:r>
            <a:endParaRPr lang="en-US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Git Hub Link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2800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280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URL –</a:t>
            </a:r>
            <a:r>
              <a:rPr lang="en-US" altLang="en-US" sz="280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 tooltip="" action="ppaction://hlinkfile"/>
              </a:rPr>
              <a:t>https://github.com/799PARIDHISHARMA/GrantPilot-AI</a:t>
            </a:r>
            <a:endParaRPr lang="en-US" altLang="en-US" sz="2800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990759" y="312399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Future Scope 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993775" y="1089660"/>
            <a:ext cx="9439275" cy="489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Scope</a:t>
            </a:r>
            <a:endParaRPr lang="en-US" altLang="en-US" sz="1600" b="1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Real-Time Grant Aggregation: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Integrate public APIs, RSS feeds, and verified grant portals for regularly updated opportunities.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Multi-Language Support: 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 grant information and proposal assistance in multiple languages.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Advanced Personalization: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Improve recommendations using startup profiles, past applications, and funding preferences.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Automated Deadline Alerts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Notify users about upcoming grant deadlines and important updates.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More Grant Sources: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Expand the knowledge base to include government, private, national, and international funding programs.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Improved AI Agents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Enhance agents with better reasoning, verification, and source validation.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16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 Assistance:</a:t>
            </a: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Provide step-by-step guidance for completing grant applications while keeping final submission under user control.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alt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/>
              <a:t>Certificates Earned:</a:t>
            </a:r>
            <a:endParaRPr lang="en-US" sz="2400" b="1"/>
          </a:p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/>
              <a:t>Please  add your credly certificate </a:t>
            </a:r>
            <a:endParaRPr lang="en-US" sz="28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730" y="1337310"/>
            <a:ext cx="8130540" cy="52044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/>
              <a:t>Add your IBM BOB Certificate</a:t>
            </a:r>
            <a:endParaRPr lang="en-US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330960"/>
            <a:ext cx="10426700" cy="520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8224_2*a*1"/>
  <p:tag name="KSO_WM_TEMPLATE_CATEGORY" val="diagram"/>
  <p:tag name="KSO_WM_TEMPLATE_INDEX" val="20238224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SPECIAL_SOURCE" val="bdnull"/>
  <p:tag name="KSO_WM_SLIDE_ID" val="diagram20238224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841.161*292.15"/>
  <p:tag name="KSO_WM_SLIDE_POSITION" val="59.7145*153.449"/>
  <p:tag name="KSO_WM_DIAGRAM_GROUP_CODE" val="n1-1"/>
  <p:tag name="KSO_WM_SLIDE_DIAGTYPE" val="n"/>
  <p:tag name="KSO_WM_TAG_VERSION" val="3.0"/>
  <p:tag name="KSO_WM_BEAUTIFY_FLAG" val="#wm#"/>
  <p:tag name="KSO_WM_TEMPLATE_CATEGORY" val="diagram"/>
  <p:tag name="KSO_WM_TEMPLATE_INDEX" val="20238224"/>
  <p:tag name="KSO_WM_SLIDE_LAYOUT" val="a_n"/>
  <p:tag name="KSO_WM_SLIDE_LAYOUT_CNT" val="1_1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8224_2*a*1"/>
  <p:tag name="KSO_WM_TEMPLATE_CATEGORY" val="diagram"/>
  <p:tag name="KSO_WM_TEMPLATE_INDEX" val="20238224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8.xml><?xml version="1.0" encoding="utf-8"?>
<p:tagLst xmlns:p="http://schemas.openxmlformats.org/presentationml/2006/main">
  <p:tag name="KSO_WM_SPECIAL_SOURCE" val="bdnull"/>
  <p:tag name="KSO_WM_SLIDE_ID" val="diagram20238224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841.161*292.15"/>
  <p:tag name="KSO_WM_SLIDE_POSITION" val="59.7145*153.449"/>
  <p:tag name="KSO_WM_DIAGRAM_GROUP_CODE" val="n1-1"/>
  <p:tag name="KSO_WM_SLIDE_DIAGTYPE" val="n"/>
  <p:tag name="KSO_WM_TAG_VERSION" val="3.0"/>
  <p:tag name="KSO_WM_BEAUTIFY_FLAG" val="#wm#"/>
  <p:tag name="KSO_WM_TEMPLATE_CATEGORY" val="diagram"/>
  <p:tag name="KSO_WM_TEMPLATE_INDEX" val="20238224"/>
  <p:tag name="KSO_WM_SLIDE_LAYOUT" val="a_n"/>
  <p:tag name="KSO_WM_SLIDE_LAYOUT_CNT" val="1_1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424_1*a*1"/>
  <p:tag name="KSO_WM_TEMPLATE_CATEGORY" val="diagram"/>
  <p:tag name="KSO_WM_TEMPLATE_INDEX" val="20238424"/>
  <p:tag name="KSO_WM_UNIT_LAYERLEVEL" val="1"/>
  <p:tag name="KSO_WM_TAG_VERSION" val="3.0"/>
  <p:tag name="KSO_WM_BEAUTIFY_FLAG" val="#wm#"/>
  <p:tag name="KSO_WM_DIAGRAM_GROUP_CODE" val="l1-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0.xml><?xml version="1.0" encoding="utf-8"?>
<p:tagLst xmlns:p="http://schemas.openxmlformats.org/presentationml/2006/main">
  <p:tag name="KSO_WM_SLIDE_ID" val="diagram2023842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1"/>
  <p:tag name="KSO_WM_SLIDE_SIZE" val="850.4*359.5"/>
  <p:tag name="KSO_WM_SLIDE_POSITION" val="54.8*131.6"/>
  <p:tag name="KSO_WM_TAG_VERSION" val="3.0"/>
  <p:tag name="KSO_WM_BEAUTIFY_FLAG" val="#wm#"/>
  <p:tag name="KSO_WM_TEMPLATE_CATEGORY" val="diagram"/>
  <p:tag name="KSO_WM_TEMPLATE_INDEX" val="2023822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8224_5*a*1"/>
  <p:tag name="KSO_WM_TEMPLATE_CATEGORY" val="diagram"/>
  <p:tag name="KSO_WM_TEMPLATE_INDEX" val="20238224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2.xml><?xml version="1.0" encoding="utf-8"?>
<p:tagLst xmlns:p="http://schemas.openxmlformats.org/presentationml/2006/main">
  <p:tag name="KSO_WM_SPECIAL_SOURCE" val="bdnull"/>
  <p:tag name="KSO_WM_SLIDE_ID" val="diagram20238224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41.663*292.563"/>
  <p:tag name="KSO_WM_SLIDE_POSITION" val="59.1684*153.837"/>
  <p:tag name="KSO_WM_DIAGRAM_GROUP_CODE" val="n1-1"/>
  <p:tag name="KSO_WM_SLIDE_DIAGTYPE" val="n"/>
  <p:tag name="KSO_WM_TAG_VERSION" val="3.0"/>
  <p:tag name="KSO_WM_BEAUTIFY_FLAG" val="#wm#"/>
  <p:tag name="KSO_WM_TEMPLATE_CATEGORY" val="diagram"/>
  <p:tag name="KSO_WM_TEMPLATE_INDEX" val="20238224"/>
  <p:tag name="KSO_WM_SLIDE_LAYOUT" val="a_n"/>
  <p:tag name="KSO_WM_SLIDE_LAYOUT_CNT" val="1_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562_1*a*1"/>
  <p:tag name="KSO_WM_TEMPLATE_CATEGORY" val="diagram"/>
  <p:tag name="KSO_WM_TEMPLATE_INDEX" val="20233562"/>
  <p:tag name="KSO_WM_UNIT_LAYERLEVEL" val="1"/>
  <p:tag name="KSO_WM_TAG_VERSION" val="3.0"/>
  <p:tag name="KSO_WM_BEAUTIFY_FLAG" val="#wm#"/>
  <p:tag name="KSO_WM_DIAGRAM_GROUP_CODE" val="l1-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4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diagram"/>
  <p:tag name="KSO_WM_SLIDE_TYPE" val="text"/>
  <p:tag name="KSO_WM_SLIDE_SUBTYPE" val="diag"/>
  <p:tag name="KSO_WM_SLIDE_SIZE" val="709.55*383.6"/>
  <p:tag name="KSO_WM_SLIDE_POSITION" val="130.25*103"/>
  <p:tag name="KSO_WM_SLIDE_LAYOUT" val="a_l"/>
  <p:tag name="KSO_WM_SLIDE_LAYOUT_CNT" val="1_1"/>
  <p:tag name="KSO_WM_SPECIAL_SOURCE" val="bdnull"/>
  <p:tag name="KSO_WM_TEMPLATE_INDEX" val="20238224"/>
  <p:tag name="KSO_WM_TEMPLATE_SUBCATEGORY" val="0"/>
  <p:tag name="KSO_WM_SLIDE_INDEX" val="1"/>
  <p:tag name="KSO_WM_TAG_VERSION" val="3.0"/>
  <p:tag name="KSO_WM_SLIDE_ID" val="diagram20233562_1"/>
  <p:tag name="KSO_WM_SLIDE_ITEM_CNT" val="3"/>
  <p:tag name="KSO_WM_DIAGRAM_GROUP_CODE" val="l1-1"/>
  <p:tag name="KSO_WM_SLIDE_DIAGTYPE" val="l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5628</Words>
  <Application>WPS Presentation</Application>
  <PresentationFormat>Widescreen</PresentationFormat>
  <Paragraphs>173</Paragraphs>
  <Slides>21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Segoe WPC</vt:lpstr>
      <vt:lpstr>Segoe Print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Your title here</vt:lpstr>
      <vt:lpstr>PowerPoint 演示文稿</vt:lpstr>
      <vt:lpstr>PowerPoint 演示文稿</vt:lpstr>
      <vt:lpstr>PowerPoint 演示文稿</vt:lpstr>
      <vt:lpstr>Your title here</vt:lpstr>
      <vt:lpstr>Your title here</vt:lpstr>
      <vt:lpstr>Your title here</vt:lpstr>
      <vt:lpstr>Your title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Hp</cp:lastModifiedBy>
  <cp:revision>12</cp:revision>
  <dcterms:created xsi:type="dcterms:W3CDTF">2025-07-08T05:06:00Z</dcterms:created>
  <dcterms:modified xsi:type="dcterms:W3CDTF">2026-09-11T17:01:32Z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1E4B9D5266004BD0BF949B0D57406443_13</vt:lpwstr>
  </property>
</Properties>
</file>